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7F1E7"/>
                </a:solidFill>
                <a:latin typeface="Calibri"/>
              </a:defRPr>
            </a:pPr>
            <a:r>
              <a:t>LuxeReserve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5793F"/>
                </a:solidFill>
                <a:latin typeface="Calibri"/>
              </a:defRPr>
            </a:pPr>
            <a:r>
              <a:t>Advanced Database Technical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7F1E7"/>
                </a:solidFill>
                <a:latin typeface="Calibri"/>
              </a:defRPr>
            </a:pPr>
            <a:r>
              <a:t>Hotel Reservation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389120"/>
            <a:ext cx="4876495" cy="27432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F1E7"/>
                </a:solidFill>
                <a:latin typeface="Calibri"/>
              </a:defRPr>
            </a:pPr>
            <a:r>
              <a:t>Polyglot Persistence: SQL Server 2022 + MongoDB Atlas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7172"/>
                </a:solidFill>
                <a:latin typeface="Calibri"/>
              </a:defRPr>
            </a:pPr>
            <a:r>
              <a:t>Course: Advanced Database  |  Group: DAF04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Project Introduction &amp; Objectives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Technology Stack Overview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System Architecture (Three-Tier + Hybrid Data Layer)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Database Design (30 SQL Tables + 3 MongoDB Collections)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Advanced Database Techniques (CTE, Locking, Window Functions, Triggers, SP, Views)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System Features &amp; Functionality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Source Code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17282B"/>
                </a:solidFill>
                <a:latin typeface="Calibri"/>
              </a:defRPr>
            </a:pPr>
            <a:r>
              <a:t>•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1.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282B"/>
                </a:solidFill>
                <a:latin typeface="Calibri"/>
              </a:defRPr>
            </a:pPr>
            <a:r>
              <a:t>LuxeReserve is a comprehensive Hotel Reservation Management System (HRMS) designed for luxury hotel chains operating across Southeast Asia. It provides end-to-end solutions for managing hotel inventory, guest reservations, payment processing, front desk operations, housekeeping, maintenance, and revenue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SQL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0040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291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MongoDB 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20040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291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Page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84632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937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669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Route 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846320"/>
            <a:ext cx="347472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937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3D4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669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7172"/>
                </a:solidFill>
                <a:latin typeface="Calibri"/>
              </a:defRPr>
            </a:pPr>
            <a:r>
              <a:t>User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2.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5029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D4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React 18 + Vite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React Router v6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Context API (Auth, Flash)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12 Page Components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Premium UI Design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Warm Beige + Deep Teal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474720" cy="5029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D4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Node.js + Express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82 RESTful Endpoints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JWT Authentication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bcryptjs Password Hashing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VNPay Integration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Nodemailer (Gmail SMTP)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474720" cy="5029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D4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SQL Server 2022 Express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MongoDB Atlas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Polyglot Persistence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30 Tables / 3 Collections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ACID Transactions</a:t>
            </a:r>
          </a:p>
          <a:p>
            <a:pPr>
              <a:spcAft>
                <a:spcPts val="8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Flexible Schema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3.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7F1E7"/>
                </a:solidFill>
                <a:latin typeface="Calibri"/>
              </a:defRPr>
            </a:pPr>
            <a:r>
              <a:t>Presentation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F1E7"/>
                </a:solidFill>
                <a:latin typeface="Calibri"/>
              </a:defRPr>
            </a:pPr>
            <a:r>
              <a:t>React SPA</a:t>
            </a:r>
            <a:br/>
            <a:r>
              <a:t>Port 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5793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7F1E7"/>
                </a:solidFill>
                <a:latin typeface="Calibri"/>
              </a:defRPr>
            </a:pPr>
            <a:r>
              <a:t>Application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F1E7"/>
                </a:solidFill>
                <a:latin typeface="Calibri"/>
              </a:defRPr>
            </a:pPr>
            <a:r>
              <a:t>Node.js Express</a:t>
            </a:r>
            <a:br/>
            <a:r>
              <a:t>Port 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5793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63040"/>
            <a:ext cx="3474720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7F1E7"/>
                </a:solidFill>
                <a:latin typeface="Calibri"/>
              </a:defRPr>
            </a:pPr>
            <a:r>
              <a:t>Data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F1E7"/>
                </a:solidFill>
                <a:latin typeface="Calibri"/>
              </a:defRPr>
            </a:pPr>
            <a:r>
              <a:t>SQL Server + 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11277295" cy="2468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D42"/>
                </a:solidFill>
                <a:latin typeface="Calibri"/>
              </a:defRPr>
            </a:pPr>
            <a:r>
              <a:t>Hybrid Data Layer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115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SQL Server handles all transactional data: reservations, payments, inventory, guest profiles, audit logs</a:t>
            </a:r>
          </a:p>
          <a:p>
            <a:pPr>
              <a:spcAft>
                <a:spcPts val="6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MongoDB stores rich content: hotel descriptions, image galleries, amenity features, room type details</a:t>
            </a:r>
          </a:p>
          <a:p>
            <a:pPr>
              <a:spcAft>
                <a:spcPts val="6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API layer merges data from both databases using business key mapping (hotel_id, amenity_code, room_type_code)</a:t>
            </a:r>
          </a:p>
          <a:p>
            <a:pPr>
              <a:spcAft>
                <a:spcPts val="600"/>
              </a:spcAft>
              <a:defRPr sz="1400">
                <a:solidFill>
                  <a:srgbClr val="17282B"/>
                </a:solidFill>
                <a:latin typeface="Calibri"/>
              </a:defRPr>
            </a:pPr>
            <a:r>
              <a:t>•  94% of endpoints served primarily from SQL Server; 6% require hybrid data merging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4. 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Location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Hotel Organization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Room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Guest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System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46888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Pricing &amp; Promotions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6888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Reservation 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46888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Stay &amp;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56616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56616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Loyalty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566160"/>
            <a:ext cx="2651760" cy="822960"/>
          </a:xfrm>
          <a:prstGeom prst="round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703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F1E7"/>
                </a:solidFill>
                <a:latin typeface="Calibri"/>
              </a:defRPr>
            </a:pPr>
            <a:r>
              <a:t>Audit &amp; Locks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77295" cy="18288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Key Design 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Computed Persisted Column: Guest.full_name (CONCAT + COALESCE)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Denormalized hotel_id in RoomAvailability and HousekeepingTask for query performance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Snapshot currency_code in Reservation, Payment, Invoice for historical accuracy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CHECK constraint on RoomFeature: at least one FK (room_id or room_type_id) must be NOT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5. Advanced Database Techniques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Recursive CTE - Location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Adjacency list model: 5 levels (Region, Country, State, City, District)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Anchor member selects root; recursive member joins children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vw_LocationTree view with depth tracking and hotel_count aggregation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Enables queries like "find all hotels in Southeast Asia" in one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Pessimistic Locking - Double-Booking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UPDLOCK + HOLDLOCK hints on RoomAvailability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sp_ReserveRoom: lock, check, update, commit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Second transaction BLOCKED until first completes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sp_TransferRoom: atomic release old + lock new 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Optimistic Locking - Inventory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version_no column for conflict detection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UPDATE ... WHERE version_no = @expected_version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Returns HTTP 409 Conflict on version mismatch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Suitable for low-contention admin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48640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Window Functions - Revenue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SUM() OVER(PARTITION BY) for monthly revenue per hotel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DENSE_RANK() for top-performing room types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Cumulative running totals with ROWS BETWEEN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Revenue share percentage calculations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5. Advanced Database Techniques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Triggers - Automated Audit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trg_Payment_AuditLog: logs payment creation and status changes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trg_Guest_AuditLog: captures profile changes (email, name, VIP)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trg_GuestAuth_AuditLog: detects password changes, email verification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trg_RoomRate_PriceIntegrityGuard: flags rate changes &gt; 50% as CRITICAL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All triggers use TRY-CATCH with explicit transaction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Stored Procedures - Business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sp_ReserveRoom: pessimistic locking for booking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sp_TransferRoom: atomic room transfer with lock management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sp_CreateReservation: orchestrates full booking creation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SET XACT_ABORT ON for automatic rollback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Comprehensive TRY-CATCH error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Views - Financial &amp; Analytical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vw_ReservationTotal: single source of truth for financials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Aggregates from ReservationRoom, ReservationService, Payment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vw_LocationTree: hierarchical location queries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vw_RevenueByHotel: monthly revenue with window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48640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Computed Columns - Derived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Guest.full_name: CONCAT + COALESCE with PERSISTED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Physically stored for indexability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Eliminates application-level name concatenation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Ensures consistent name formatting across all 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6. System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Reservation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ACID booking lifecycle: PENDING → CONFIRMED → CHECKED_IN → CHECKED_OUT. Room transfers, cancellations, status history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Payment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5 payment types (Deposit, Prepayment, Full, Refund, Incidental). VNPay integration. Validation against vw_ReservationTotal.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Front Desk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Check-in/check-out workflows. StayRecord creation. Auto housekeeping task generation. Guest lookup and room transfers.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Housekeeping &amp;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Priority-based cleaning tasks. Staff assignment. Severity-based maintenance tickets. Auto room status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2336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Guest Services &amp; Loyalty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Service ordering (spa, dining, transfer). Loyalty tiers (Silver to Black). Points redemption for promotional vouchers.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023360"/>
            <a:ext cx="356616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D42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82B"/>
                </a:solidFill>
                <a:latin typeface="Calibri"/>
              </a:defRPr>
            </a:pPr>
            <a:r>
              <a:t>Revenue analytics with window functions. Price Guard monitoring. Invoice generation. User management and role assignment.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7. Source Code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Backend (Node.js/Express)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src/app.js: Main entry point, middleware config, route mounting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src/config/: SQL Server + MongoDB connection configurations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src/middleware/: JWT auth stack (attachAuthContext, requireAuth)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src/routes/: 14 route modules (hotels, rooms, guests, auth, etc.)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src/services/: mail.js (Nodemailer), vnpay.js (payment gateway)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database/sql/: 24 numbered migration scripts (01-24)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Frontend (React/Vite)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frontend/src/main.jsx: Entry point with context providers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frontend/src/App.jsx: React Router v6 route definitions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frontend/src/pages/: 12 page components (Dashboard, Search, etc.)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frontend/src/context/: AuthContext, FlashContext for state management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frontend/src/lib/api.js: HTTP client with JWT token attachment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frontend/src/utils/: Formatters, hotel image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77295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Playwright end-to-end testing for critical user workflows (booking, payment, check-in/check-out)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Concurrent booking test (test_concurrent_booking.js): validates pessimistic locking prevents double-booking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Reservation payment flow test (test_reservation_payment_flow.js): validates complete payment lifecycle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check_remaining.py: automated validation of project requirements against rubric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Playwright HTML report in playwright-report/ for visual test result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1E7"/>
                </a:solidFill>
                <a:latin typeface="Calibri"/>
              </a:defRPr>
            </a:pPr>
            <a:r>
              <a:t>8.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ACID-compliant transactions with pessimistic locking preventing double-booking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Polyglot persistence: SQL Server (30 tables) + MongoDB (3 collections)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82 RESTful API endpoints across 14 route groups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React-based UI for 3 user groups (guests, staff, admins)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Automated audit logging through 4 database triggers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Complete database setup pipeline with 24 migration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Challenges &amp; 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Implementing pessimistic locking without deadlocks in high-concurrency scenarios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Designing hybrid data layer with efficient SQL + MongoDB merging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Ensuring data consistency across two database systems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Comprehensive error handling in triggers and stored procedures</a:t>
            </a:r>
          </a:p>
          <a:p>
            <a:pPr>
              <a:spcAft>
                <a:spcPts val="300"/>
              </a:spcAft>
              <a:defRPr sz="1200">
                <a:solidFill>
                  <a:srgbClr val="17282B"/>
                </a:solidFill>
                <a:latin typeface="Calibri"/>
              </a:defRPr>
            </a:pPr>
            <a:r>
              <a:t>•  Managing transaction boundaries across multiple database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77295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D42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Integration with third-party OTAs (Booking.com, Agoda) for centralized inventory management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Native mobile applications for guests and staff with push notifications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AI-based revenue management for dynamic room pricing optimization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Multi-property consolidated accounting for enterprise-level financial reporting</a:t>
            </a:r>
          </a:p>
          <a:p>
            <a:pPr>
              <a:spcAft>
                <a:spcPts val="400"/>
              </a:spcAft>
              <a:defRPr sz="1300">
                <a:solidFill>
                  <a:srgbClr val="17282B"/>
                </a:solidFill>
                <a:latin typeface="Calibri"/>
              </a:defRPr>
            </a:pPr>
            <a:r>
              <a:t>•  Integration with Property Management Systems (PMS) and Point-of-Sale (POS)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7F1E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4876495" cy="27432"/>
          </a:xfrm>
          <a:prstGeom prst="rect">
            <a:avLst/>
          </a:prstGeom>
          <a:solidFill>
            <a:srgbClr val="B5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5793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F1E7"/>
                </a:solidFill>
                <a:latin typeface="Calibri"/>
              </a:defRPr>
            </a:pPr>
            <a:r>
              <a:t>LuxeReserve - Advanced Database Technical Report</a:t>
            </a:r>
            <a:br/>
            <a:r>
              <a:t>Group DAF04 |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