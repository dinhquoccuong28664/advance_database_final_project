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bc198c508f48c1" /><Relationship Type="http://schemas.openxmlformats.org/officeDocument/2006/relationships/extended-properties" Target="/docProps/app.xml" Id="Rf3fdd833960749aa" /><Relationship Type="http://schemas.openxmlformats.org/officeDocument/2006/relationships/officeDocument" Target="/ppt/presentation.xml" Id="R98a9a9359aef4e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45d32a1fe44667"/>
  </p:sldMasterIdLst>
  <p:notesMasterIdLst>
    <p:notesMasterId xmlns:r="http://schemas.openxmlformats.org/officeDocument/2006/relationships" r:id="Rd7edc700bf9c4ee8"/>
  </p:notesMasterIdLst>
  <p:sldIdLst>
    <p:sldId xmlns:r="http://schemas.openxmlformats.org/officeDocument/2006/relationships" id="256" r:id="R6878be04fd9245de"/>
    <p:sldId xmlns:r="http://schemas.openxmlformats.org/officeDocument/2006/relationships" id="257" r:id="R19334538a318466b"/>
    <p:sldId xmlns:r="http://schemas.openxmlformats.org/officeDocument/2006/relationships" id="258" r:id="Reb12e54f3e0b48eb"/>
    <p:sldId xmlns:r="http://schemas.openxmlformats.org/officeDocument/2006/relationships" id="259" r:id="R0390deca13594f5a"/>
    <p:sldId xmlns:r="http://schemas.openxmlformats.org/officeDocument/2006/relationships" id="260" r:id="Re960cd904f5f4369"/>
    <p:sldId xmlns:r="http://schemas.openxmlformats.org/officeDocument/2006/relationships" id="261" r:id="R34cc50fbd7014c41"/>
    <p:sldId xmlns:r="http://schemas.openxmlformats.org/officeDocument/2006/relationships" id="262" r:id="Rac40a1566e8b4b27"/>
    <p:sldId xmlns:r="http://schemas.openxmlformats.org/officeDocument/2006/relationships" id="263" r:id="Rdd0ac85f85fa43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5d32a1fe44667" /><Relationship Type="http://schemas.openxmlformats.org/officeDocument/2006/relationships/theme" Target="/ppt/theme/theme1.xml" Id="Ra45d1b9446c94cbc" /><Relationship Type="http://schemas.openxmlformats.org/officeDocument/2006/relationships/notesMaster" Target="/ppt/notesMasters/notesMaster1.xml" Id="Rd7edc700bf9c4ee8" /><Relationship Type="http://schemas.openxmlformats.org/officeDocument/2006/relationships/presProps" Target="/ppt/presProps.xml" Id="R0af07bfdbb824e79" /><Relationship Type="http://schemas.openxmlformats.org/officeDocument/2006/relationships/viewProps" Target="/ppt/viewProps.xml" Id="R57359c074b004d70" /><Relationship Type="http://schemas.openxmlformats.org/officeDocument/2006/relationships/tableStyles" Target="/ppt/tableStyles.xml" Id="R829d5b8b77af4201" /><Relationship Type="http://schemas.openxmlformats.org/officeDocument/2006/relationships/slide" Target="/ppt/slides/slide1.xml" Id="R6878be04fd9245de" /><Relationship Type="http://schemas.openxmlformats.org/officeDocument/2006/relationships/slide" Target="/ppt/slides/slide2.xml" Id="R19334538a318466b" /><Relationship Type="http://schemas.openxmlformats.org/officeDocument/2006/relationships/slide" Target="/ppt/slides/slide3.xml" Id="Reb12e54f3e0b48eb" /><Relationship Type="http://schemas.openxmlformats.org/officeDocument/2006/relationships/slide" Target="/ppt/slides/slide4.xml" Id="R0390deca13594f5a" /><Relationship Type="http://schemas.openxmlformats.org/officeDocument/2006/relationships/slide" Target="/ppt/slides/slide5.xml" Id="Re960cd904f5f4369" /><Relationship Type="http://schemas.openxmlformats.org/officeDocument/2006/relationships/slide" Target="/ppt/slides/slide6.xml" Id="R34cc50fbd7014c41" /><Relationship Type="http://schemas.openxmlformats.org/officeDocument/2006/relationships/slide" Target="/ppt/slides/slide7.xml" Id="Rac40a1566e8b4b27" /><Relationship Type="http://schemas.openxmlformats.org/officeDocument/2006/relationships/slide" Target="/ppt/slides/slide8.xml" Id="Rdd0ac85f85fa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2e06db426b48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f06922840b4a93" /><Relationship Type="http://schemas.openxmlformats.org/officeDocument/2006/relationships/notesMaster" Target="/ppt/notesMasters/notesMaster1.xml" Id="R733da5b3ebef47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2c06ff6be4891" /><Relationship Type="http://schemas.openxmlformats.org/officeDocument/2006/relationships/notesMaster" Target="/ppt/notesMasters/notesMaster1.xml" Id="R221c3b36b759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fd72b321e4669" /><Relationship Type="http://schemas.openxmlformats.org/officeDocument/2006/relationships/notesMaster" Target="/ppt/notesMasters/notesMaster1.xml" Id="R1675a9a4f8d04c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00571b13434d61" /><Relationship Type="http://schemas.openxmlformats.org/officeDocument/2006/relationships/notesMaster" Target="/ppt/notesMasters/notesMaster1.xml" Id="Rd983c89472054e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52750202284e26" /><Relationship Type="http://schemas.openxmlformats.org/officeDocument/2006/relationships/notesMaster" Target="/ppt/notesMasters/notesMaster1.xml" Id="Rcef16647165447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947bcdd01c467e" /><Relationship Type="http://schemas.openxmlformats.org/officeDocument/2006/relationships/notesMaster" Target="/ppt/notesMasters/notesMaster1.xml" Id="Rf511d269619643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cbf6396ef8457c" /><Relationship Type="http://schemas.openxmlformats.org/officeDocument/2006/relationships/notesMaster" Target="/ppt/notesMasters/notesMaster1.xml" Id="R9ad80574f75042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2547bd951b4fd3" /><Relationship Type="http://schemas.openxmlformats.org/officeDocument/2006/relationships/notesMaster" Target="/ppt/notesMasters/notesMaster1.xml" Id="R420d4348ccba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project as both a software system and a database engineering case study. Emphasize that the database design is the backbone of the application, not a passive persistence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snapshot, LuxeReserve project, accessed 2026-04-26.</a:t>
            </a:r>
          </a:p>
          <a:p xmlns:a="http://schemas.openxmlformats.org/drawingml/2006/main">
            <a:r>
              <a:t>- database/sql/02_create_tables.sql</a:t>
            </a:r>
          </a:p>
          <a:p xmlns:a="http://schemas.openxmlformats.org/drawingml/2006/main">
            <a:r>
              <a:t>- src/routes/*.js and src/config/database.js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problem is not only to store bookings, but to keep room inventory, payments, and admin operations consistent under concurrent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snapshot, LuxeReserve project, accessed 2026-04-26.</a:t>
            </a:r>
          </a:p>
          <a:p xmlns:a="http://schemas.openxmlformats.org/drawingml/2006/main">
            <a:r>
              <a:t>- src/routes/*.js and src/config/database.js</a:t>
            </a:r>
          </a:p>
          <a:p xmlns:a="http://schemas.openxmlformats.org/drawingml/2006/main">
            <a:r>
              <a:t>- frontend/src/pages/*.jsx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system is not a toy schema. The relational core is large enough to model real hotel operations while still keeping clear separation by domain.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database/sql/02_create_tables.sql</a:t>
            </a:r>
          </a:p>
          <a:p xmlns:a="http://schemas.openxmlformats.org/drawingml/2006/main">
            <a:r>
              <a:t>- database/sql/03_create_views.sql</a:t>
            </a:r>
          </a:p>
          <a:p xmlns:a="http://schemas.openxmlformats.org/drawingml/2006/main">
            <a:r>
              <a:t>- database/sql/04_create_triggers.sql</a:t>
            </a:r>
          </a:p>
          <a:p xmlns:a="http://schemas.openxmlformats.org/drawingml/2006/main">
            <a:r>
              <a:t>- database/sql/05_create_procedures.sql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booking-time correctness with admin-time edit flows. The design shows that concurrency control should follow business risk and access pattern, not ideology.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database/sql/05_create_procedures.sql</a:t>
            </a:r>
          </a:p>
          <a:p xmlns:a="http://schemas.openxmlformats.org/drawingml/2006/main">
            <a:r>
              <a:t>- src/routes/*.js and src/config/database.js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useful to explain why advanced database design is not only about schema structure. It is also about putting integrity logic in the right execution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database/sql/03_create_views.sql</a:t>
            </a:r>
          </a:p>
          <a:p xmlns:a="http://schemas.openxmlformats.org/drawingml/2006/main">
            <a:r>
              <a:t>- database/sql/04_create_triggers.sql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chart to show domain balance in the schema. This helps justify why stored procedures, audit logs, and derived views were concentrated around the reservation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database/sql/02_create_tables.sql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slide where you argue that polyglot persistence is a design choice, not a buzzword. Structured transactions and flexible content have different storage needs.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src/routes/*.js and src/config/database.js</a:t>
            </a:r>
          </a:p>
          <a:p xmlns:a="http://schemas.openxmlformats.org/drawingml/2006/main">
            <a:r>
              <a:t>- frontend/src/pages/*.jsx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tying the implementation back to the course. The best ending is not 'the app works' but 'the database decisions are visible, justified, and extensible.'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snapshot, LuxeReserve project, accessed 2026-04-26.</a:t>
            </a:r>
          </a:p>
          <a:p xmlns:a="http://schemas.openxmlformats.org/drawingml/2006/main">
            <a:r>
              <a:t>- src/routes/*.js and src/config/database.js</a:t>
            </a:r>
          </a:p>
          <a:p xmlns:a="http://schemas.openxmlformats.org/drawingml/2006/main">
            <a:r>
              <a:t>- database/sql/02_create_tables.sql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b061ea9d74b8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2CF47777-4A2B-44B1-9237-F8C7C3320E3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A5829FA-89E7-4B0C-9F7B-8A3729535E3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F21060-F5A2-431E-8E28-3588CB5CFA0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2B9093-7F36-4617-8755-31F485E0F4E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311aa8529f4c7c" /><Relationship Type="http://schemas.openxmlformats.org/officeDocument/2006/relationships/slideLayout" Target="/ppt/slideLayouts/slideLayout2.xml" Id="R38aa5864e9364f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019E35-69FC-411B-A794-0DA8271D8E3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a5864e9364f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b254bb046b4295" /><Relationship Type="http://schemas.openxmlformats.org/officeDocument/2006/relationships/image" Target="/ppt/media/image.png" Id="Rc905a41ff06148eb" /><Relationship Type="http://schemas.openxmlformats.org/officeDocument/2006/relationships/notesSlide" Target="/ppt/notesSlides/notesSlide1.xml" Id="R1b88bccb39ad43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3bf616d9b433e" /><Relationship Type="http://schemas.openxmlformats.org/officeDocument/2006/relationships/image" Target="/ppt/media/image2.png" Id="R2685261d5c2f4ca6" /><Relationship Type="http://schemas.openxmlformats.org/officeDocument/2006/relationships/notesSlide" Target="/ppt/notesSlides/notesSlide2.xml" Id="Re230c00b668544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59912006364715" /><Relationship Type="http://schemas.openxmlformats.org/officeDocument/2006/relationships/image" Target="/ppt/media/image3.png" Id="R7d3687f0192a4b80" /><Relationship Type="http://schemas.openxmlformats.org/officeDocument/2006/relationships/notesSlide" Target="/ppt/notesSlides/notesSlide3.xml" Id="R9d7e247aa85640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7270ae23364864" /><Relationship Type="http://schemas.openxmlformats.org/officeDocument/2006/relationships/image" Target="/ppt/media/image4.png" Id="Rc28ce417016a47f4" /><Relationship Type="http://schemas.openxmlformats.org/officeDocument/2006/relationships/notesSlide" Target="/ppt/notesSlides/notesSlide4.xml" Id="R358fb20c0deb46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597764aa1458b" /><Relationship Type="http://schemas.openxmlformats.org/officeDocument/2006/relationships/image" Target="/ppt/media/image5.png" Id="Rf35ecbd056e748e0" /><Relationship Type="http://schemas.openxmlformats.org/officeDocument/2006/relationships/notesSlide" Target="/ppt/notesSlides/notesSlide5.xml" Id="R970272d97b2548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223ebee89a4a95" /><Relationship Type="http://schemas.openxmlformats.org/officeDocument/2006/relationships/image" Target="/ppt/media/image6.png" Id="Rc0a9ecbe549e45d6" /><Relationship Type="http://schemas.openxmlformats.org/officeDocument/2006/relationships/chart" Target="/ppt/slides/charts/chart1.xml" Id="Rbeb65835edb44b6e" /><Relationship Type="http://schemas.openxmlformats.org/officeDocument/2006/relationships/notesSlide" Target="/ppt/notesSlides/notesSlide6.xml" Id="R5756eaea7f624b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832bc57a60416d" /><Relationship Type="http://schemas.openxmlformats.org/officeDocument/2006/relationships/image" Target="/ppt/media/image7.png" Id="R5852b9e1ce9d486b" /><Relationship Type="http://schemas.openxmlformats.org/officeDocument/2006/relationships/notesSlide" Target="/ppt/notesSlides/notesSlide7.xml" Id="Rfe87d281b0544d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d944a88944ecb" /><Relationship Type="http://schemas.openxmlformats.org/officeDocument/2006/relationships/image" Target="/ppt/media/image8.png" Id="R820021a95b2546a8" /><Relationship Type="http://schemas.openxmlformats.org/officeDocument/2006/relationships/notesSlide" Target="/ppt/notesSlides/notesSlide8.xml" Id="R4338af7c0c914112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>
                <a:latin typeface="Lato"/>
                <a:ea typeface="Lato"/>
                <a:cs typeface="Lato"/>
              </a:rPr>
              <a:t>SQL table count by domain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latin typeface="Lato"/>
              <a:ea typeface="Lato"/>
              <a:cs typeface="Lato"/>
            </a:defRPr>
          </a:pPr>
        </a:p>
      </c:txPr>
    </c:title>
    <c:autoTitleDeleted val="0"/>
    <c:view3D/>
    <c:plotArea>
      <c:layout/>
      <c:barChart>
        <c:barDir val="col"/>
        <c:varyColors val="0"/>
        <c:ser>
          <c:idx val="0"/>
          <c:order val="0"/>
          <c:tx>
            <c:v>Tables</c:v>
          </c:tx>
          <c:spPr>
            <a:solidFill xmlns:a="http://schemas.openxmlformats.org/drawingml/2006/main">
              <a:srgbClr val="27C47D"/>
            </a:solidFill>
            <a:ln xmlns:a="http://schemas.openxmlformats.org/drawingml/2006/main" w="9525">
              <a:solidFill>
                <a:srgbClr val="116B49"/>
              </a:solidFill>
              <a:prstDash val="solid"/>
            </a:ln>
          </c:spPr>
          <c:cat>
            <c:strLit>
              <c:ptCount val="4"/>
              <c:pt idx="0">
                <c:v>Organization</c:v>
              </c:pt>
              <c:pt idx="1">
                <c:v>Room &amp; Pricing</c:v>
              </c:pt>
              <c:pt idx="2">
                <c:v>Guest &amp; Auth</c:v>
              </c:pt>
              <c:pt idx="3">
                <c:v>Reservation &amp; Ops</c:v>
              </c:pt>
            </c:strLit>
          </c:cat>
          <c:val>
            <c:numLit>
              <c:formatCode/>
              <c:ptCount val="4"/>
              <c:pt idx="0">
                <c:v>6</c:v>
              </c:pt>
              <c:pt idx="1">
                <c:v>9</c:v>
              </c:pt>
              <c:pt idx="2">
                <c:v>9</c:v>
              </c:pt>
              <c:pt idx="3">
                <c:v>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latin typeface="Lato"/>
                  <a:ea typeface="Lato"/>
                  <a:cs typeface="Lat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5a41ff06148e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A79E0-235B-403B-882D-2655E6A3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A5933-3822-488A-AEAB-2DD0FE80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A6791-9DFE-4858-865D-6948A1AC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ADVANCED DATABASE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88CEF-F4A1-433A-A733-31E443F0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LuxeReserve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6F0F3-BC0B-4B07-8451-10AAE97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A case study of a luxury hotel reservation platform built around transactional SQL Server design, operational analytics, and polyglot persistence.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E0C81-DB50-4357-86F5-BB1F75C7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05300"/>
            <a:ext cx="39433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270EE-F46D-4D7C-AA2A-7EB3266B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33900"/>
            <a:ext cx="342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4"/>
                </a:solidFill>
              </a:defRPr>
            </a:pPr>
            <a:r>
              <a:rPr sz="1500" b="1">
                <a:solidFill>
                  <a:srgbClr val="101214"/>
                </a:solidFill>
              </a:rPr>
              <a:t>From normalized schema design to concurrency-safe booking and admin analytics.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7D999-549A-4AA9-A74A-DBBC7445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837395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5261d5c2f4ca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F2723-7D08-43FC-AA16-68E88EA6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D56E5-3A04-4267-A588-D3B7287A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9B450-99BA-4D23-8F27-3F5C63DB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78ACF-68E6-4954-BE58-E34E6629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51F8D-F7E7-4563-BFE0-F364A00A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DC222-7E64-44E3-A9CC-7648E0F9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Problem Statement And System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66A02-B561-42E8-9736-2E75A5FA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project addresses real hotel operations: booking, inventory control, guest identity, payments, in-stay services, and back-office workflows.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BFDCC-6D1D-4C3B-A153-623DCD68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13A4C-4348-4815-973B-E047860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EE42A-ECFB-4B3C-B00E-56A9B746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D2D0C-1020-4EF8-9D14-E6397DE6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243ED-BD1B-4917-BFFF-EFC40DBF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C6EC8-72DD-46AB-9664-4909F227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8BB05-B88B-4754-935F-D8A9D741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Academic 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7B777-7FF0-453C-A907-F7BF532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Translate advanced database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theory into a working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product: normalized schema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design, concurrency control,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procedural SQL, and runtime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analytics.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68134-BEEE-49D7-ACB0-6AE2685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0BA0B-B0E2-4E27-AD40-48A26472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22C71-5229-47CA-8E8E-88093A3E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2AD98-D64E-4780-AB0A-99BECC95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9D6450-5FE4-4410-9428-3023674A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BFC0F-FEAC-477E-9605-CB7BA517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2985F9-684A-4E56-8042-13D2A7F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Business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9FF6B-A587-4CB7-81D0-293783D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The platform covers guest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booking, hotel inventory,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pricing, promotions,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invoices, maintenance,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housekeeping, and admin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reporting.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9D124A-B312-4943-A271-247F35D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E72BDB-73B6-4E35-BD1C-7ED2D6C5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D9C05-2100-436B-AE39-EC127E0F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0ED78C-1817-445F-A4F3-78328EB1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716049-ED36-48F2-82BC-AB1A9D7F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E62122-830F-4614-9503-FBC0858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37909-25F6-426D-ABC0-7ACA6749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Delivery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F26B53-5FA1-4A66-B984-BAABED26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 React frontend talks to a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Node.js API that coordinates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SQL Server for operational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integrity and MongoDB for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rich catalog content.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2F95D-7E01-4F31-AB6E-B35678E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207708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687f0192a4b8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4F43D-B5BA-4F8C-B4A5-B419FA5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1401B-7749-49B3-B55D-55DC976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BC199-E4C2-485F-9E53-83320F1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48CC4-B2F0-4C6F-AEF6-7BFE9FBA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AC516-44AA-40A8-93AE-0A170BD4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DB601-4F6C-473F-AE7F-E12AD107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Relational Core At A Glance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9D92E-ADFF-49D6-92CD-65E7105D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SQL Server layer is deliberately broad because the reservation engine must support both transactional correctness and operational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27598-8658-4E09-8923-0AB26247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D7202-4B52-46BF-960C-2DF540F7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40B71-A1DD-40FC-8B74-07EE1DAC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B0335-6F1D-4D34-9530-FCF9AE7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Normalized SQL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AC11D-ADB4-4289-9CA3-DEBA0E6E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02_create_tables.sql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12C4E-E3AA-47D2-AFA9-7DA2DD16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5830E-631C-4AB2-83EF-DC23952F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AE37D-203E-47EE-8287-8FE876AF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 + 2 + 2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EB1763-2C18-46BB-8445-487F40D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View, triggers, procedures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8788B-A703-4DD5-8204-4D7735D7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03/04/05 SQL object scripts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7B835-5D6E-4AC4-9438-3559FD0F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5E033-A103-4E04-9FA0-C6BFCFA1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97460C-E3C4-4C11-8F5B-7B971523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48A20A-4D77-48B7-B94A-4CC9C86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Data stores in one runtime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53445-3A90-4CE4-B4BB-01125F1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SQL Server + MongoDB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23CF7-0FBE-4C9B-8DAB-4042EDFC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2034963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ce417016a47f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D79BD-5497-4628-906E-79BEB368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0C6D1-6DF5-4DB0-8FE3-979BFFC1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C5DA4-D9F3-4F6F-9C60-70D94026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8512A-DA21-42EA-8520-63B9FDB1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FA6B0-E424-45FF-BFD4-FCD07DE9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F2132-272C-40ED-840D-124892D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Transaction Control And Concurrency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4AEB6-2256-4F80-BC81-818C8D90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Two concurrency strategies are applied where they make sense instead of forcing a single locking model everywhere.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E16D2-0F37-4D2C-8971-F43377DD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81111-913B-4FCD-A739-D092F66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8DEC7-E004-46E0-9C8E-E919E25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88508-67AE-4460-90BB-2D0D015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A5661-DBE7-408A-B7EE-2353770F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A6FF5-8449-47B1-9AD9-0FE2508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E4483-5045-4D77-B13F-C8EDAB12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Pessimistic locking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F4BE4-4F1D-4C0E-956A-15C952F1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sp_ReserveRoom uses UPDLOCK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and HOLDLOCK on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RoomAvailability rows so two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concurrent reservations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cannot sell the same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room-night.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14A97-A4EA-4D04-8428-6885DA2B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C770B-627A-4AC7-B917-5F6596EA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B66168-6665-4C57-AEBF-F0DA808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755CC-4927-4EF9-A6C5-2884898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4889E3-1BC9-4559-89D3-261FB5F4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34FEA-913E-45B0-A436-E21B472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DCA58-AF21-4DC4-B6C4-351050AD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Optimistic locking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77626-96AD-4221-B760-C84DD43C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Administrative availability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updates use version_no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semantics so stale writes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are rejected cleanly without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long lock duration.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BB371-63D9-45E1-B316-DE49F796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E35F55-C217-4A2D-AEBF-DA17427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2C7B70-999A-4557-97FF-0FA16106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DE54DB-884D-4FE1-A223-CB59A17B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D9D88-52EA-43E5-B61A-19720960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7A666-B7B8-4AA9-B428-1CE3F713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9325B-379C-4928-A964-81DDA4A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Atomic transfer 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9413CC-9E88-478A-9ACE-B13B509E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sp_TransferRoom releases the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old room, locks the new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room, updates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ReservationRoom, and records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status history inside one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transaction.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78EFE-1FD6-40CB-961F-2A3FBA52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86758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ecbd056e748e0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E348B-88F7-4714-AA3C-13F8330E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864F-846A-4B18-B985-B5B2694A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A9EE2-8A23-4C12-B0A2-42351EC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AD9F3-338F-46F8-84DC-720EFBC2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B051E-5235-42C3-B12C-6C7002DF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B6A53-AF37-47F5-B505-6B3A4F0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Integrity Automation Inside The Database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6C273-3688-4B9C-ADA3-CDA1637E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design pushes critical consistency work into views and triggers so the backend can consume trusted derived data instead of re-implementing it repeatedly.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B9157-7B64-46DB-878F-73748B55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20D2B-FF9C-4091-AFB3-5D5725C2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CE77C-FBDD-4FAC-9758-7F52615D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A2306-B0A2-451C-8E89-6D40D13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0F7C67-71C9-4E62-BEAF-ED168FF9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90CBF-22BD-4C72-9924-2D95F573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8FE05-7E3E-4804-B5F8-6B1D0557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Financial source of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E264E1-CCF6-44B0-A368-A52BBA29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vw_ReservationTotal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aggregates room charges,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service charges, captured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payments, and remaining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balance into one reusable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object.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67C19-256B-4ED2-BFE5-ACB3AEA0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DF7CD-E3C5-4961-A76D-A171595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4B68A-F45F-455A-B919-9929CE8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F409C-5B31-4350-A700-C1E52DD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8B8B34-F82F-441E-89A8-D0A7A910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B76A44-537C-4F22-AC5B-BE7DE5B3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DD237-4640-4E30-908E-773D19E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Price integrity 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A11CFB-26DF-4071-9A3A-9AEBD1D7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trg_RoomRate_PriceIntegrityGuard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flags extreme room-rate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changes above fifty percent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and writes CRITICAL entries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to RateChangeLog.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7E1940-43C5-4B73-82B7-13D584F1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776DF-4B99-4E91-8455-1100414E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63B66-0D67-4A70-AD9A-8EA9437E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2A5D3-FBEC-4C7A-AD0C-9574ECD1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50671-012F-43DB-BD95-6F1CCD0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1677ED-E139-4EC2-8D79-37F024E7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BB1B51-19BA-4EFD-8A7B-84300291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Cancellation audit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8F7EE5-4F24-4DD6-B9ED-B31038D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trg_Reservation_CancellationAudit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writes status-change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evidence into AuditLog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whenever a reservation moves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to CANCELLED or NO_SHOW.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99C07-6806-4761-AEB5-5E4CC2DD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1057735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9ecbe549e45d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A310C-57C8-4208-A9A1-3D760988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34DDB-B9C7-4D5C-BEEF-CFF16512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FE19D-7693-4E9E-9976-E6189F95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E674B-79F0-40B7-A6F6-B36B88E4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4C3BA-589C-4E7C-8328-8C58BA6E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F4463-03D9-4B93-AF76-588E5E9F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429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Schema Distribution By Business Domain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7F7BA1-8E87-426D-9157-A5BF4400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Most relational depth sits around reservation, finance, and operational workflows because that is where correctness pressure is highest.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54A87-E771-4157-825A-014001AA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70294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415C0-5AAD-4533-A570-32AF5803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6B49"/>
                </a:solidFill>
              </a:defRPr>
            </a:pPr>
            <a:r>
              <a:rPr sz="1200" b="1">
                <a:solidFill>
                  <a:srgbClr val="116B49"/>
                </a:solidFill>
              </a:rPr>
              <a:t>SQL table count by domain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76300" y="3276600"/>
          <a:ext xmlns:a="http://schemas.openxmlformats.org/drawingml/2006/main" cx="6286500" cy="2057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b65835edb44b6e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B90C7-60CA-4B46-B847-D952B600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36195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E0044-3DFD-48D2-B069-B547351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2415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1C282-29C5-40BF-A669-0C1F9BC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41162-E0BB-4F5F-9968-0A88ED39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0956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0F2F2-6D4F-47C9-BC56-EE80EBB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813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5D389-3CE5-4515-B7EF-446B3961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2670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4C55E-3B70-4044-A38C-F43B3E7E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337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0B46E-88C3-441E-A43E-327D312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4330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This is the densest domain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because the platform must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coordinate room assignment,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payments, invoices, service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orders, maintenance, and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auditability together.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03F45-8303-46D0-B2D4-D17CAEEB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3619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4FA9D-46FB-40BC-BE67-C0D2558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3619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9A39F-F73A-445D-8FBC-1C348F20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91150"/>
            <a:ext cx="3200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25C2D-860E-4ACB-A6FB-2877AF97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43600"/>
            <a:ext cx="3162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Reservation and operations tables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2867A-0A4C-4C86-863F-B9AC873C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1265610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2b9e1ce9d486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17FF2-7ABE-4287-9295-D818B466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3579D-42F5-471F-9C2E-61F1216D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789E4-E006-4496-BD2C-B6A60C17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0E49D-D715-4C5D-8290-90DF3656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A219C-589F-450B-9DD8-7BDD4B82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9DCC3-5740-41E0-A380-1A50465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Polyglot Persistence And API Composition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EB023-F492-4130-A8E6-4AA6769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backend merges two storage models at runtime instead of overloading one database with every concern.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14118-F576-42F2-AD78-31D3F502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CF11F-5D29-4A89-BE84-7BAEA985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3D252-C2F6-40A8-8412-D49110E9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E0B43-28FF-4C0A-878C-80F5067D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3361B-4CA4-44C8-B6F0-5D9334DC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D41C7-669C-4977-922F-3019FB4E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B8B06-D28F-4C31-A393-FA9FBD43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SQL Server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94838-3663-40CE-B05A-B0138276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Operational facts live in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SQL Server: rooms, rates,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reservations, payments,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invoices, staff accounts,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and status history.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32871-EE16-43B2-A290-614E4C7D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4F359-AE6E-4F7D-A665-98FF782D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9938E4-7626-410E-9F6D-64C13A9D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FAB43-33A4-40CD-821D-B92899E4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46990-D8EF-4B18-B5CE-5CA40485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57422-5542-4420-9F1D-6C794410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3BC5A-81D5-4CC7-B3F2-E6A871FA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MongoDB role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69439-B8D6-4D9E-B489-9A31C059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Flexible catalog content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lives in MongoDB: long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descriptions, media, amenity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metadata, and room-type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storytelling content.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8A744-3EA0-44D9-BA36-56F5AA64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49C51-3C52-47B7-A8B3-2A1EA835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64257-7C6C-4199-88B9-232F8508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90F65F-C22D-41AA-BAD1-AABE0D58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3D9EB8-7317-4103-9DBD-BF724FCA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23E911-EAC1-4E76-8A75-9F27DAEF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E81D6E-4CCB-4858-BF88-8EF1115C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Hybrid 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57D01C-2AEB-4D1A-AF34-6B81488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The hotels API joins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relational hotel identity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with MongoDB catalog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content, giving the frontend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one coherent contract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without losing storage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specialization.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28FE98-EB0D-44A1-AB74-34217FB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233507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265494-3549-4FB6-B104-D28B94B144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021a95b2546a8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BC2F7-950D-421A-A984-CC076467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F15E9-1216-424E-A9A1-6A9C6D8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SLIDE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8FC91-7930-4911-B371-1D7AC25D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675D2-5637-48D7-BADE-92569D97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B4657-CB3A-42EF-A84F-ABB4293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48F8F-8AA4-4FD3-B220-439DCAC4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Academic Value, Limits, And Next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7198C-4D81-41B5-9E2C-BC9E6736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project already demonstrates advanced database techniques, but it also reveals clear paths for deeper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947DA-B0C6-4C7E-BD74-E8F70073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2A305E-744E-46D4-A53D-12E6166A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29DD4-394F-4A47-8683-121EDB6B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2EC17-8463-4B6B-A6A7-2827D05F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9572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C2AE5-A933-4621-A891-C4B61C09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81952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81442-2C2F-4A0C-878B-734B9013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B068C-522B-4904-83AE-235F0A04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What the project proves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5CFE9-EFE3-46D4-92E4-284C9703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Advanced database topics are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visible end-to-end: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normalized schema design,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concurrency control,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procedural SQL, runtime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aggregation, and hybrid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persistence.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ECE82-2B45-431A-A2DB-BDBD71F7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B3CEC-EEFE-4D5A-8757-F7C9FF2F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D5FA1-0932-4E96-91DD-8F9E38AD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14BF3-1768-4A7D-A7DA-47ED123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3EDFA-BC43-46A5-983C-9B85C6F9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E21BF-1079-4162-AAE8-D6C18058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385762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3199A-14A0-4C91-A175-C0A46F28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Current limits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0477E-9F71-4B98-91AE-895EDCC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Some production concerns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remain outside the strongest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path today, including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broader access hardening,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full password recovery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maturity, and wider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automated coverage.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218CAD-5188-444A-B3EC-25429B95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33845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15408-69CA-4A0B-A890-772D6DC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90900"/>
            <a:ext cx="762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731F5C-D813-4800-B91C-EBE248D0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6008B1-1092-4B95-B555-C0C1211A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376237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5579B-1EC5-4605-AE8A-9A3CF7B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384810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19E5B-9C39-419B-8940-19DA5FF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393382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8A8FC5-019B-486E-A5CC-8ABADB8B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60045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Next database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32333-6F0D-4992-BDCD-D927C7E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210050"/>
            <a:ext cx="2927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 natural next phase is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deeper indexing review,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stronger role-based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enforcement, richer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analytics materialization,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and more scenario-driven</a:t>
            </a:r>
          </a:p>
          <a:p xmlns:a="http://schemas.openxmlformats.org/drawingml/2006/main">
            <a:pPr algn="l">
              <a:defRPr sz="1200" b="0">
                <a:solidFill>
                  <a:srgbClr val="101214"/>
                </a:solidFill>
              </a:defRPr>
            </a:pPr>
            <a:r>
              <a:rPr sz="1200" b="0">
                <a:solidFill>
                  <a:srgbClr val="101214"/>
                </a:solidFill>
              </a:rPr>
              <a:t>transactional testing.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7D5AD8-F84F-4B01-873A-49D98AC8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Repository-based summary prepared from the local LuxeReserve source snapshot on 2026-04-26.</a:t>
            </a:r>
          </a:p>
        </p:txBody>
      </p:sp>
    </p:spTree>
    <p:extLst>
      <p:ext uri="{BB962C8B-B14F-4D97-AF65-F5344CB8AC3E}">
        <p14:creationId xmlns:p14="http://schemas.microsoft.com/office/powerpoint/2010/main" val="1624190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2026-04-26T00:20:07.2540000Z</dcterms:created>
  <dcterms:modified xsi:type="dcterms:W3CDTF">2026-04-26T00:20:07.2550000Z</dcterms:modified>
</coreProperties>
</file>